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vision: transforming a traditional heavy equipment rental operation into a data-driven digital enterprise.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market: capital-preserving contractors prefer rental; differentiation comes from availability, speed, and asset protection.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gap maps to a platform capability shown later — this slide sets up the solution pillars.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four pillars sit on a shared enterprise foundation: SSO, RBAC, audit logging, notifications, API gateway.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mobile-first design for Ghanaian market conditions — fast on 3G, mobile money native.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Admin console consolidates inventory, bookings, maintenance, pricing, customers and governance.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Store-and-forward devices with multi-network SIMs handle remote-site connectivity gaps.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maker-checker workflow — modeled on institutional financial controls, addresses the client's requirement for robust cashout/withdrawal/deposit management.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Multi-AZ deployment, auto-scaling, infrastructure-as-code, zero-downtime deployments. Stack: React/Next.js, Node or Python services, PostgreSQL, AWS.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Payment tokenization keeps the platform out of PCI scope entirely — a major cost and risk reduction.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Revenue-facing capability ships in Phase 1 (month 4); hardening continues in parallel. ~9 months total.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KPI baseline established during Phase 4 hypercare; reviewed at monthly service reviews thereafter.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Emphasize: one-time build vs recurring run cost separation; discovery de-risks the estimate.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risk register with likelihood/impact/mitigation is in the proposal document, section 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ask: approval to commission Phase 0 discovery.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5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2377440"/>
            <a:ext cx="6766560" cy="6766560"/>
          </a:xfrm>
          <a:prstGeom prst="ellipse">
            <a:avLst/>
          </a:prstGeom>
          <a:solidFill>
            <a:srgbClr val="2A3340"/>
          </a:solidFill>
          <a:ln/>
        </p:spPr>
      </p:sp>
      <p:sp>
        <p:nvSpPr>
          <p:cNvPr id="3" name="Shape 1"/>
          <p:cNvSpPr/>
          <p:nvPr/>
        </p:nvSpPr>
        <p:spPr>
          <a:xfrm>
            <a:off x="10195560" y="4480560"/>
            <a:ext cx="3291840" cy="3291840"/>
          </a:xfrm>
          <a:prstGeom prst="ellipse">
            <a:avLst/>
          </a:prstGeom>
          <a:solidFill>
            <a:srgbClr val="F2A104"/>
          </a:solidFill>
          <a:ln/>
        </p:spPr>
      </p:sp>
      <p:sp>
        <p:nvSpPr>
          <p:cNvPr id="4" name="Shape 2"/>
          <p:cNvSpPr/>
          <p:nvPr/>
        </p:nvSpPr>
        <p:spPr>
          <a:xfrm>
            <a:off x="10515600" y="960120"/>
            <a:ext cx="1371600" cy="1371600"/>
          </a:xfrm>
          <a:prstGeom prst="ellipse">
            <a:avLst/>
          </a:prstGeom>
          <a:solidFill>
            <a:srgbClr val="1E252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72216" y="1316736"/>
            <a:ext cx="658368" cy="6583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F2A1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SYSTEM PROPOSAL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58368" y="1554480"/>
            <a:ext cx="9692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Heavy Equipment Rental &amp;</a:t>
            </a:r>
            <a:endParaRPr lang="en-US" sz="4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Fleet Intelligence Platform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685800" y="416052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8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 for online rentals, real-time machine tracking, and bank-grade financial control — built for scale across Ghana and West Africa.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85800" y="5989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1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pPr indent="0" marL="0">
              <a:buNone/>
            </a:pPr>
            <a:r>
              <a:rPr lang="en-US" sz="1300" dirty="0">
                <a:solidFill>
                  <a:srgbClr val="8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Executive Presentation   ·   July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2A1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Rental demand is booming. Operations haven't kept up.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828800"/>
            <a:ext cx="3493008" cy="2377440"/>
          </a:xfrm>
          <a:prstGeom prst="roundRect">
            <a:avLst>
              <a:gd name="adj" fmla="val 3462"/>
            </a:avLst>
          </a:prstGeom>
          <a:solidFill>
            <a:srgbClr val="F2F4F7"/>
          </a:solidFill>
          <a:ln/>
        </p:spPr>
      </p:sp>
      <p:sp>
        <p:nvSpPr>
          <p:cNvPr id="5" name="Text 3"/>
          <p:cNvSpPr/>
          <p:nvPr/>
        </p:nvSpPr>
        <p:spPr>
          <a:xfrm>
            <a:off x="850392" y="2084832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2A1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15–25%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50392" y="3017520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utilization upside from real-time availability &amp; redeployment of idle assets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361688" y="1828800"/>
            <a:ext cx="3493008" cy="2377440"/>
          </a:xfrm>
          <a:prstGeom prst="roundRect">
            <a:avLst>
              <a:gd name="adj" fmla="val 3462"/>
            </a:avLst>
          </a:prstGeom>
          <a:solidFill>
            <a:srgbClr val="F2F4F7"/>
          </a:solidFill>
          <a:ln/>
        </p:spPr>
      </p:sp>
      <p:sp>
        <p:nvSpPr>
          <p:cNvPr id="8" name="Text 6"/>
          <p:cNvSpPr/>
          <p:nvPr/>
        </p:nvSpPr>
        <p:spPr>
          <a:xfrm>
            <a:off x="4617720" y="2084832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2A1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1–3 days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617720" y="3017520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quote-to-booking turnaround — customers book whoever answers first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129016" y="1828800"/>
            <a:ext cx="3493008" cy="2377440"/>
          </a:xfrm>
          <a:prstGeom prst="roundRect">
            <a:avLst>
              <a:gd name="adj" fmla="val 3462"/>
            </a:avLst>
          </a:prstGeom>
          <a:solidFill>
            <a:srgbClr val="F2F4F7"/>
          </a:solidFill>
          <a:ln/>
        </p:spPr>
      </p:sp>
      <p:sp>
        <p:nvSpPr>
          <p:cNvPr id="11" name="Text 9"/>
          <p:cNvSpPr/>
          <p:nvPr/>
        </p:nvSpPr>
        <p:spPr>
          <a:xfrm>
            <a:off x="8385048" y="2084832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2A1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8385048" y="3017520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fleet value exposed without live tracking, geofencing &amp; tamper alerts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94360" y="47091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3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Ghana's construction and mining sectors increasingly rent rather than own. </a:t>
            </a:r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23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operators who win are the ones who can prove availability, mobilize fast, and protect their fleet with data.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2A1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operational gaps draining revenue today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5349240" cy="1298448"/>
          </a:xfrm>
          <a:prstGeom prst="roundRect">
            <a:avLst>
              <a:gd name="adj" fmla="val 5634"/>
            </a:avLst>
          </a:prstGeom>
          <a:solidFill>
            <a:srgbClr val="F2F4F7"/>
          </a:solidFill>
          <a:ln/>
        </p:spPr>
      </p:sp>
      <p:sp>
        <p:nvSpPr>
          <p:cNvPr id="5" name="Shape 3"/>
          <p:cNvSpPr/>
          <p:nvPr/>
        </p:nvSpPr>
        <p:spPr>
          <a:xfrm>
            <a:off x="795528" y="2148840"/>
            <a:ext cx="566928" cy="566928"/>
          </a:xfrm>
          <a:prstGeom prst="ellipse">
            <a:avLst/>
          </a:prstGeom>
          <a:solidFill>
            <a:srgbClr val="1E252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2929" y="2296241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94767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booking &amp; scheduling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554480" y="2331720"/>
            <a:ext cx="4224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Double-bookings, slow quotes, enquiries lost after hours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300216" y="1783080"/>
            <a:ext cx="5349240" cy="1298448"/>
          </a:xfrm>
          <a:prstGeom prst="roundRect">
            <a:avLst>
              <a:gd name="adj" fmla="val 5634"/>
            </a:avLst>
          </a:prstGeom>
          <a:solidFill>
            <a:srgbClr val="F2F4F7"/>
          </a:solidFill>
          <a:ln/>
        </p:spPr>
      </p:sp>
      <p:sp>
        <p:nvSpPr>
          <p:cNvPr id="10" name="Shape 7"/>
          <p:cNvSpPr/>
          <p:nvPr/>
        </p:nvSpPr>
        <p:spPr>
          <a:xfrm>
            <a:off x="6501384" y="2148840"/>
            <a:ext cx="566928" cy="566928"/>
          </a:xfrm>
          <a:prstGeom prst="ellipse">
            <a:avLst/>
          </a:prstGeom>
          <a:solidFill>
            <a:srgbClr val="1E252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785" y="2296241"/>
            <a:ext cx="272125" cy="2721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60336" y="194767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asset visibility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7260336" y="2331720"/>
            <a:ext cx="4224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Unauthorized use, site disputes, theft exposure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94360" y="3355848"/>
            <a:ext cx="5349240" cy="1298448"/>
          </a:xfrm>
          <a:prstGeom prst="roundRect">
            <a:avLst>
              <a:gd name="adj" fmla="val 5634"/>
            </a:avLst>
          </a:prstGeom>
          <a:solidFill>
            <a:srgbClr val="F2F4F7"/>
          </a:solidFill>
          <a:ln/>
        </p:spPr>
      </p:sp>
      <p:sp>
        <p:nvSpPr>
          <p:cNvPr id="15" name="Shape 11"/>
          <p:cNvSpPr/>
          <p:nvPr/>
        </p:nvSpPr>
        <p:spPr>
          <a:xfrm>
            <a:off x="795528" y="3721608"/>
            <a:ext cx="566928" cy="566928"/>
          </a:xfrm>
          <a:prstGeom prst="ellipse">
            <a:avLst/>
          </a:prstGeom>
          <a:solidFill>
            <a:srgbClr val="1E252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929" y="3869009"/>
            <a:ext cx="272125" cy="27212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35204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engine hours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1554480" y="3904488"/>
            <a:ext cx="4224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leakage and billing disputes on hourly rentals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300216" y="3355848"/>
            <a:ext cx="5349240" cy="1298448"/>
          </a:xfrm>
          <a:prstGeom prst="roundRect">
            <a:avLst>
              <a:gd name="adj" fmla="val 5634"/>
            </a:avLst>
          </a:prstGeom>
          <a:solidFill>
            <a:srgbClr val="F2F4F7"/>
          </a:solidFill>
          <a:ln/>
        </p:spPr>
      </p:sp>
      <p:sp>
        <p:nvSpPr>
          <p:cNvPr id="20" name="Shape 15"/>
          <p:cNvSpPr/>
          <p:nvPr/>
        </p:nvSpPr>
        <p:spPr>
          <a:xfrm>
            <a:off x="6501384" y="3721608"/>
            <a:ext cx="566928" cy="566928"/>
          </a:xfrm>
          <a:prstGeom prst="ellipse">
            <a:avLst/>
          </a:prstGeom>
          <a:solidFill>
            <a:srgbClr val="1E252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8785" y="3869009"/>
            <a:ext cx="272125" cy="27212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60336" y="35204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maintenance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7260336" y="3904488"/>
            <a:ext cx="4224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Unplanned downtime and emergency repair premiums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594360" y="4928616"/>
            <a:ext cx="5349240" cy="1298448"/>
          </a:xfrm>
          <a:prstGeom prst="roundRect">
            <a:avLst>
              <a:gd name="adj" fmla="val 5634"/>
            </a:avLst>
          </a:prstGeom>
          <a:solidFill>
            <a:srgbClr val="F2F4F7"/>
          </a:solidFill>
          <a:ln/>
        </p:spPr>
      </p:sp>
      <p:sp>
        <p:nvSpPr>
          <p:cNvPr id="25" name="Shape 19"/>
          <p:cNvSpPr/>
          <p:nvPr/>
        </p:nvSpPr>
        <p:spPr>
          <a:xfrm>
            <a:off x="795528" y="5294376"/>
            <a:ext cx="566928" cy="566928"/>
          </a:xfrm>
          <a:prstGeom prst="ellipse">
            <a:avLst/>
          </a:prstGeom>
          <a:solidFill>
            <a:srgbClr val="1E252F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2929" y="5441777"/>
            <a:ext cx="272125" cy="27212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554480" y="509320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payments</a:t>
            </a:r>
            <a:endParaRPr lang="en-US" sz="1550" dirty="0"/>
          </a:p>
        </p:txBody>
      </p:sp>
      <p:sp>
        <p:nvSpPr>
          <p:cNvPr id="28" name="Text 21"/>
          <p:cNvSpPr/>
          <p:nvPr/>
        </p:nvSpPr>
        <p:spPr>
          <a:xfrm>
            <a:off x="1554480" y="5477256"/>
            <a:ext cx="4224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Cash-handling risk and slow, manual reconciliation</a:t>
            </a:r>
            <a:endParaRPr lang="en-US" sz="1250" dirty="0"/>
          </a:p>
        </p:txBody>
      </p:sp>
      <p:sp>
        <p:nvSpPr>
          <p:cNvPr id="29" name="Shape 22"/>
          <p:cNvSpPr/>
          <p:nvPr/>
        </p:nvSpPr>
        <p:spPr>
          <a:xfrm>
            <a:off x="6300216" y="4928616"/>
            <a:ext cx="5349240" cy="1298448"/>
          </a:xfrm>
          <a:prstGeom prst="roundRect">
            <a:avLst>
              <a:gd name="adj" fmla="val 5634"/>
            </a:avLst>
          </a:prstGeom>
          <a:solidFill>
            <a:srgbClr val="F2F4F7"/>
          </a:solidFill>
          <a:ln/>
        </p:spPr>
      </p:sp>
      <p:sp>
        <p:nvSpPr>
          <p:cNvPr id="30" name="Shape 23"/>
          <p:cNvSpPr/>
          <p:nvPr/>
        </p:nvSpPr>
        <p:spPr>
          <a:xfrm>
            <a:off x="6501384" y="5294376"/>
            <a:ext cx="566928" cy="566928"/>
          </a:xfrm>
          <a:prstGeom prst="ellipse">
            <a:avLst/>
          </a:prstGeom>
          <a:solidFill>
            <a:srgbClr val="1E252F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8785" y="5441777"/>
            <a:ext cx="272125" cy="272125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260336" y="509320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consolidated reporting</a:t>
            </a:r>
            <a:endParaRPr lang="en-US" sz="1550" dirty="0"/>
          </a:p>
        </p:txBody>
      </p:sp>
      <p:sp>
        <p:nvSpPr>
          <p:cNvPr id="33" name="Text 25"/>
          <p:cNvSpPr/>
          <p:nvPr/>
        </p:nvSpPr>
        <p:spPr>
          <a:xfrm>
            <a:off x="7260336" y="5477256"/>
            <a:ext cx="4224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made on incomplete or stale data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5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2A1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platform. Four integrated pillars.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810512"/>
            <a:ext cx="5349240" cy="1938528"/>
          </a:xfrm>
          <a:prstGeom prst="roundRect">
            <a:avLst>
              <a:gd name="adj" fmla="val 4717"/>
            </a:avLst>
          </a:prstGeom>
          <a:solidFill>
            <a:srgbClr val="2A3340"/>
          </a:solidFill>
          <a:ln/>
        </p:spPr>
      </p:sp>
      <p:sp>
        <p:nvSpPr>
          <p:cNvPr id="5" name="Shape 3"/>
          <p:cNvSpPr/>
          <p:nvPr/>
        </p:nvSpPr>
        <p:spPr>
          <a:xfrm>
            <a:off x="850392" y="2103120"/>
            <a:ext cx="621792" cy="621792"/>
          </a:xfrm>
          <a:prstGeom prst="ellipse">
            <a:avLst/>
          </a:prstGeom>
          <a:solidFill>
            <a:srgbClr val="1E252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2058" y="2264786"/>
            <a:ext cx="298460" cy="2984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120640" y="201168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2A1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673352" y="2139696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Rental Commerce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673352" y="2615184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8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portal &amp; apps: catalog, live availability, online booking, digital contracts, MTN MoMo &amp; card payments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300216" y="1810512"/>
            <a:ext cx="5349240" cy="1938528"/>
          </a:xfrm>
          <a:prstGeom prst="roundRect">
            <a:avLst>
              <a:gd name="adj" fmla="val 4717"/>
            </a:avLst>
          </a:prstGeom>
          <a:solidFill>
            <a:srgbClr val="2A3340"/>
          </a:solidFill>
          <a:ln/>
        </p:spPr>
      </p:sp>
      <p:sp>
        <p:nvSpPr>
          <p:cNvPr id="11" name="Shape 8"/>
          <p:cNvSpPr/>
          <p:nvPr/>
        </p:nvSpPr>
        <p:spPr>
          <a:xfrm>
            <a:off x="6556248" y="2103120"/>
            <a:ext cx="621792" cy="621792"/>
          </a:xfrm>
          <a:prstGeom prst="ellipse">
            <a:avLst/>
          </a:prstGeom>
          <a:solidFill>
            <a:srgbClr val="1E252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7914" y="2264786"/>
            <a:ext cx="298460" cy="2984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826496" y="201168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2A1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7379208" y="2139696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Telematics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7379208" y="2615184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8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GPS map, geofencing, verified engine hours, route playback, theft prevention &amp; maintenance triggers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594360" y="4023360"/>
            <a:ext cx="5349240" cy="1938528"/>
          </a:xfrm>
          <a:prstGeom prst="roundRect">
            <a:avLst>
              <a:gd name="adj" fmla="val 4717"/>
            </a:avLst>
          </a:prstGeom>
          <a:solidFill>
            <a:srgbClr val="2A3340"/>
          </a:solidFill>
          <a:ln/>
        </p:spPr>
      </p:sp>
      <p:sp>
        <p:nvSpPr>
          <p:cNvPr id="17" name="Shape 13"/>
          <p:cNvSpPr/>
          <p:nvPr/>
        </p:nvSpPr>
        <p:spPr>
          <a:xfrm>
            <a:off x="850392" y="4315968"/>
            <a:ext cx="621792" cy="621792"/>
          </a:xfrm>
          <a:prstGeom prst="ellipse">
            <a:avLst/>
          </a:prstGeom>
          <a:solidFill>
            <a:srgbClr val="1E252F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058" y="4477634"/>
            <a:ext cx="298460" cy="2984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120640" y="4224528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2A1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20" name="Text 15"/>
          <p:cNvSpPr/>
          <p:nvPr/>
        </p:nvSpPr>
        <p:spPr>
          <a:xfrm>
            <a:off x="1673352" y="4352544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Operations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1673352" y="4828032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8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invoicing, deposits, maker–checker payouts, ledger and same-day reconciliation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6300216" y="4023360"/>
            <a:ext cx="5349240" cy="1938528"/>
          </a:xfrm>
          <a:prstGeom prst="roundRect">
            <a:avLst>
              <a:gd name="adj" fmla="val 4717"/>
            </a:avLst>
          </a:prstGeom>
          <a:solidFill>
            <a:srgbClr val="2A3340"/>
          </a:solidFill>
          <a:ln/>
        </p:spPr>
      </p:sp>
      <p:sp>
        <p:nvSpPr>
          <p:cNvPr id="23" name="Shape 18"/>
          <p:cNvSpPr/>
          <p:nvPr/>
        </p:nvSpPr>
        <p:spPr>
          <a:xfrm>
            <a:off x="6556248" y="4315968"/>
            <a:ext cx="621792" cy="621792"/>
          </a:xfrm>
          <a:prstGeom prst="ellipse">
            <a:avLst/>
          </a:prstGeom>
          <a:solidFill>
            <a:srgbClr val="1E252F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7914" y="4477634"/>
            <a:ext cx="298460" cy="2984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0826496" y="4224528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2A1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26" name="Text 20"/>
          <p:cNvSpPr/>
          <p:nvPr/>
        </p:nvSpPr>
        <p:spPr>
          <a:xfrm>
            <a:off x="7379208" y="4352544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&amp; Intelligence</a:t>
            </a:r>
            <a:endParaRPr lang="en-US" sz="1700" dirty="0"/>
          </a:p>
        </p:txBody>
      </p:sp>
      <p:sp>
        <p:nvSpPr>
          <p:cNvPr id="27" name="Text 21"/>
          <p:cNvSpPr/>
          <p:nvPr/>
        </p:nvSpPr>
        <p:spPr>
          <a:xfrm>
            <a:off x="7379208" y="4828032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8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KPIs, utilization &amp; revenue analytics, scheduled reporting and BI integration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2A1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01 — RENTAL COMMERCE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booking experience customers choose first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512064" cy="512064"/>
          </a:xfrm>
          <a:prstGeom prst="ellipse">
            <a:avLst/>
          </a:prstGeom>
          <a:solidFill>
            <a:srgbClr val="1E252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7497" y="1916217"/>
            <a:ext cx="245791" cy="24579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76479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catalog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325880" y="2066544"/>
            <a:ext cx="5577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specs, imagery, rate cards and live availability by branch and date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94360" y="2715768"/>
            <a:ext cx="512064" cy="512064"/>
          </a:xfrm>
          <a:prstGeom prst="ellipse">
            <a:avLst/>
          </a:prstGeom>
          <a:solidFill>
            <a:srgbClr val="1E252F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497" y="2848905"/>
            <a:ext cx="245791" cy="24579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25880" y="26974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online booking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325880" y="2999232"/>
            <a:ext cx="5577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reservation with conflict checks, haulage &amp; operator add-ons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94360" y="3648456"/>
            <a:ext cx="512064" cy="512064"/>
          </a:xfrm>
          <a:prstGeom prst="ellipse">
            <a:avLst/>
          </a:prstGeom>
          <a:solidFill>
            <a:srgbClr val="1E252F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497" y="3781593"/>
            <a:ext cx="245791" cy="24579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25880" y="363016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&amp; digital contracts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325880" y="3931920"/>
            <a:ext cx="5577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Ghana Card / business verification and e-signed rental agreements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594360" y="4581144"/>
            <a:ext cx="512064" cy="512064"/>
          </a:xfrm>
          <a:prstGeom prst="ellipse">
            <a:avLst/>
          </a:prstGeom>
          <a:solidFill>
            <a:srgbClr val="1E252F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497" y="4714281"/>
            <a:ext cx="245791" cy="245791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25880" y="456285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payments built-in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1325880" y="4864608"/>
            <a:ext cx="5577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MTN MoMo, Telecel Cash, cards &amp; bank transfer via Paystack — deposits and refunds included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594360" y="5513832"/>
            <a:ext cx="512064" cy="512064"/>
          </a:xfrm>
          <a:prstGeom prst="ellipse">
            <a:avLst/>
          </a:prstGeom>
          <a:solidFill>
            <a:srgbClr val="1E252F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7497" y="5646969"/>
            <a:ext cx="245791" cy="245791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325880" y="549554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notifications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1325880" y="5797296"/>
            <a:ext cx="5577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SMS, email &amp; push for confirmations, receipts, delivery and returns</a:t>
            </a:r>
            <a:endParaRPr lang="en-US" sz="1250" dirty="0"/>
          </a:p>
        </p:txBody>
      </p:sp>
      <p:sp>
        <p:nvSpPr>
          <p:cNvPr id="24" name="Shape 17"/>
          <p:cNvSpPr/>
          <p:nvPr/>
        </p:nvSpPr>
        <p:spPr>
          <a:xfrm>
            <a:off x="7635240" y="1783080"/>
            <a:ext cx="3931920" cy="4526280"/>
          </a:xfrm>
          <a:prstGeom prst="roundRect">
            <a:avLst>
              <a:gd name="adj" fmla="val 2326"/>
            </a:avLst>
          </a:prstGeom>
          <a:solidFill>
            <a:srgbClr val="1E252F"/>
          </a:solidFill>
          <a:ln/>
        </p:spPr>
      </p:sp>
      <p:sp>
        <p:nvSpPr>
          <p:cNvPr id="25" name="Text 18"/>
          <p:cNvSpPr/>
          <p:nvPr/>
        </p:nvSpPr>
        <p:spPr>
          <a:xfrm>
            <a:off x="8001000" y="21488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F2A1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26" name="Text 19"/>
          <p:cNvSpPr/>
          <p:nvPr/>
        </p:nvSpPr>
        <p:spPr>
          <a:xfrm>
            <a:off x="8001000" y="256032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enquiry captured — 24/7, on any device.</a:t>
            </a:r>
            <a:endParaRPr lang="en-US" sz="1900" dirty="0"/>
          </a:p>
        </p:txBody>
      </p:sp>
      <p:sp>
        <p:nvSpPr>
          <p:cNvPr id="27" name="Text 20"/>
          <p:cNvSpPr/>
          <p:nvPr/>
        </p:nvSpPr>
        <p:spPr>
          <a:xfrm>
            <a:off x="8001000" y="3703320"/>
            <a:ext cx="3246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8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accounts get multi-user access, credit terms and consolidated billing — winning larger contractors and repeat business.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8001000" y="534924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i="1" dirty="0">
                <a:solidFill>
                  <a:srgbClr val="F2A1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60%+ of bookings online within 12 months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2A1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&amp; ADMINISTRATION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single command center for the whole operation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828800"/>
            <a:ext cx="3529584" cy="1874520"/>
          </a:xfrm>
          <a:prstGeom prst="roundRect">
            <a:avLst>
              <a:gd name="adj" fmla="val 4390"/>
            </a:avLst>
          </a:prstGeom>
          <a:solidFill>
            <a:srgbClr val="F2F4F7"/>
          </a:solidFill>
          <a:ln/>
        </p:spPr>
      </p:sp>
      <p:sp>
        <p:nvSpPr>
          <p:cNvPr id="5" name="Shape 3"/>
          <p:cNvSpPr/>
          <p:nvPr/>
        </p:nvSpPr>
        <p:spPr>
          <a:xfrm>
            <a:off x="832104" y="2066544"/>
            <a:ext cx="530352" cy="530352"/>
          </a:xfrm>
          <a:prstGeom prst="ellipse">
            <a:avLst/>
          </a:prstGeom>
          <a:solidFill>
            <a:srgbClr val="1E252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996" y="2204436"/>
            <a:ext cx="254569" cy="25456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90472" y="21488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dashboard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32104" y="274320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status, active rentals, pipeline, revenue and alerts in one view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79976" y="1828800"/>
            <a:ext cx="3529584" cy="1874520"/>
          </a:xfrm>
          <a:prstGeom prst="roundRect">
            <a:avLst>
              <a:gd name="adj" fmla="val 4390"/>
            </a:avLst>
          </a:prstGeom>
          <a:solidFill>
            <a:srgbClr val="F2F4F7"/>
          </a:solidFill>
          <a:ln/>
        </p:spPr>
      </p:sp>
      <p:sp>
        <p:nvSpPr>
          <p:cNvPr id="10" name="Shape 7"/>
          <p:cNvSpPr/>
          <p:nvPr/>
        </p:nvSpPr>
        <p:spPr>
          <a:xfrm>
            <a:off x="4617720" y="2066544"/>
            <a:ext cx="530352" cy="530352"/>
          </a:xfrm>
          <a:prstGeom prst="ellipse">
            <a:avLst/>
          </a:prstGeom>
          <a:solidFill>
            <a:srgbClr val="1E252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5612" y="2204436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76088" y="21488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lifecycle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617720" y="274320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 to disposal, insurance, documents and per-asset profitability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165592" y="1828800"/>
            <a:ext cx="3529584" cy="1874520"/>
          </a:xfrm>
          <a:prstGeom prst="roundRect">
            <a:avLst>
              <a:gd name="adj" fmla="val 4390"/>
            </a:avLst>
          </a:prstGeom>
          <a:solidFill>
            <a:srgbClr val="F2F4F7"/>
          </a:solidFill>
          <a:ln/>
        </p:spPr>
      </p:sp>
      <p:sp>
        <p:nvSpPr>
          <p:cNvPr id="15" name="Shape 11"/>
          <p:cNvSpPr/>
          <p:nvPr/>
        </p:nvSpPr>
        <p:spPr>
          <a:xfrm>
            <a:off x="8403336" y="2066544"/>
            <a:ext cx="530352" cy="530352"/>
          </a:xfrm>
          <a:prstGeom prst="ellipse">
            <a:avLst/>
          </a:prstGeom>
          <a:solidFill>
            <a:srgbClr val="1E252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1228" y="2204436"/>
            <a:ext cx="254569" cy="25456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061704" y="21488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&amp; dispatch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403336" y="274320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Approvals, agreements, extensions, delivery and pickup logistics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94360" y="3977640"/>
            <a:ext cx="3529584" cy="1874520"/>
          </a:xfrm>
          <a:prstGeom prst="roundRect">
            <a:avLst>
              <a:gd name="adj" fmla="val 4390"/>
            </a:avLst>
          </a:prstGeom>
          <a:solidFill>
            <a:srgbClr val="F2F4F7"/>
          </a:solidFill>
          <a:ln/>
        </p:spPr>
      </p:sp>
      <p:sp>
        <p:nvSpPr>
          <p:cNvPr id="20" name="Shape 15"/>
          <p:cNvSpPr/>
          <p:nvPr/>
        </p:nvSpPr>
        <p:spPr>
          <a:xfrm>
            <a:off x="832104" y="4215384"/>
            <a:ext cx="530352" cy="530352"/>
          </a:xfrm>
          <a:prstGeom prst="ellipse">
            <a:avLst/>
          </a:prstGeom>
          <a:solidFill>
            <a:srgbClr val="1E252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996" y="4353276"/>
            <a:ext cx="254569" cy="25456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90472" y="42976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832104" y="489204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Engine-hour driven preventive schedules, work orders, service history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379976" y="3977640"/>
            <a:ext cx="3529584" cy="1874520"/>
          </a:xfrm>
          <a:prstGeom prst="roundRect">
            <a:avLst>
              <a:gd name="adj" fmla="val 4390"/>
            </a:avLst>
          </a:prstGeom>
          <a:solidFill>
            <a:srgbClr val="F2F4F7"/>
          </a:solidFill>
          <a:ln/>
        </p:spPr>
      </p:sp>
      <p:sp>
        <p:nvSpPr>
          <p:cNvPr id="25" name="Shape 19"/>
          <p:cNvSpPr/>
          <p:nvPr/>
        </p:nvSpPr>
        <p:spPr>
          <a:xfrm>
            <a:off x="4617720" y="4215384"/>
            <a:ext cx="530352" cy="530352"/>
          </a:xfrm>
          <a:prstGeom prst="ellipse">
            <a:avLst/>
          </a:prstGeom>
          <a:solidFill>
            <a:srgbClr val="1E252F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5612" y="4353276"/>
            <a:ext cx="254569" cy="254569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276088" y="42976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&amp; promotions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617720" y="489204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and seasonal rates, campaigns, governed discount approvals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165592" y="3977640"/>
            <a:ext cx="3529584" cy="1874520"/>
          </a:xfrm>
          <a:prstGeom prst="roundRect">
            <a:avLst>
              <a:gd name="adj" fmla="val 4390"/>
            </a:avLst>
          </a:prstGeom>
          <a:solidFill>
            <a:srgbClr val="F2F4F7"/>
          </a:solidFill>
          <a:ln/>
        </p:spPr>
      </p:sp>
      <p:sp>
        <p:nvSpPr>
          <p:cNvPr id="30" name="Shape 23"/>
          <p:cNvSpPr/>
          <p:nvPr/>
        </p:nvSpPr>
        <p:spPr>
          <a:xfrm>
            <a:off x="8403336" y="4215384"/>
            <a:ext cx="530352" cy="530352"/>
          </a:xfrm>
          <a:prstGeom prst="ellipse">
            <a:avLst/>
          </a:prstGeom>
          <a:solidFill>
            <a:srgbClr val="1E252F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1228" y="4353276"/>
            <a:ext cx="254569" cy="254569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061704" y="42976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RBAC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403336" y="489204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Fine-grained roles, maker–checker approvals, immutable audit trail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5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2A1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02 — FLEET TELEMATICS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machine visible. Every hour verified.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828800"/>
            <a:ext cx="530352" cy="530352"/>
          </a:xfrm>
          <a:prstGeom prst="ellipse">
            <a:avLst/>
          </a:prstGeom>
          <a:solidFill>
            <a:srgbClr val="2A334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2252" y="1966692"/>
            <a:ext cx="254569" cy="25456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44168" y="1801368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fleet map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1344168" y="2139696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8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position, speed, ignition state and utilization for every asset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300216" y="1828800"/>
            <a:ext cx="530352" cy="530352"/>
          </a:xfrm>
          <a:prstGeom prst="ellipse">
            <a:avLst/>
          </a:prstGeom>
          <a:solidFill>
            <a:srgbClr val="2A334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8108" y="1966692"/>
            <a:ext cx="254569" cy="25456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050024" y="1801368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Geofencing &amp; alerts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7050024" y="2139696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8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boundaries with entry/exit alerts and after-hours movement detection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94360" y="3310128"/>
            <a:ext cx="530352" cy="530352"/>
          </a:xfrm>
          <a:prstGeom prst="ellipse">
            <a:avLst/>
          </a:prstGeom>
          <a:solidFill>
            <a:srgbClr val="2A3340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252" y="3448020"/>
            <a:ext cx="254569" cy="25456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44168" y="3282696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engine hours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1344168" y="3621024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8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Telemetry-captured hours drive billing, utilization and maintenance — no more estimates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300216" y="3310128"/>
            <a:ext cx="530352" cy="530352"/>
          </a:xfrm>
          <a:prstGeom prst="ellipse">
            <a:avLst/>
          </a:prstGeom>
          <a:solidFill>
            <a:srgbClr val="2A3340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8108" y="344802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050024" y="3282696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Theft prevention</a:t>
            </a:r>
            <a:endParaRPr lang="en-US" sz="1550" dirty="0"/>
          </a:p>
        </p:txBody>
      </p:sp>
      <p:sp>
        <p:nvSpPr>
          <p:cNvPr id="19" name="Text 13"/>
          <p:cNvSpPr/>
          <p:nvPr/>
        </p:nvSpPr>
        <p:spPr>
          <a:xfrm>
            <a:off x="7050024" y="3621024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8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 &amp; disconnect alerts, recovery-mode tracking, immobilization support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594360" y="4791456"/>
            <a:ext cx="530352" cy="530352"/>
          </a:xfrm>
          <a:prstGeom prst="ellipse">
            <a:avLst/>
          </a:prstGeom>
          <a:solidFill>
            <a:srgbClr val="2A3340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252" y="4929348"/>
            <a:ext cx="254569" cy="254569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344168" y="4764024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Hardware-agnostic</a:t>
            </a:r>
            <a:endParaRPr lang="en-US" sz="1550" dirty="0"/>
          </a:p>
        </p:txBody>
      </p:sp>
      <p:sp>
        <p:nvSpPr>
          <p:cNvPr id="23" name="Text 16"/>
          <p:cNvSpPr/>
          <p:nvPr/>
        </p:nvSpPr>
        <p:spPr>
          <a:xfrm>
            <a:off x="1344168" y="5102352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8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Teltonika-class devices or Samsara/Geotab APIs — no vendor lock-in</a:t>
            </a:r>
            <a:endParaRPr lang="en-US" sz="1250" dirty="0"/>
          </a:p>
        </p:txBody>
      </p:sp>
      <p:sp>
        <p:nvSpPr>
          <p:cNvPr id="24" name="Shape 17"/>
          <p:cNvSpPr/>
          <p:nvPr/>
        </p:nvSpPr>
        <p:spPr>
          <a:xfrm>
            <a:off x="6300216" y="4791456"/>
            <a:ext cx="530352" cy="530352"/>
          </a:xfrm>
          <a:prstGeom prst="ellipse">
            <a:avLst/>
          </a:prstGeom>
          <a:solidFill>
            <a:srgbClr val="2A3340"/>
          </a:solidFill>
          <a:ln/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8108" y="4929348"/>
            <a:ext cx="254569" cy="254569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050024" y="4764024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triggers</a:t>
            </a:r>
            <a:endParaRPr lang="en-US" sz="1550" dirty="0"/>
          </a:p>
        </p:txBody>
      </p:sp>
      <p:sp>
        <p:nvSpPr>
          <p:cNvPr id="27" name="Text 19"/>
          <p:cNvSpPr/>
          <p:nvPr/>
        </p:nvSpPr>
        <p:spPr>
          <a:xfrm>
            <a:off x="7050024" y="5102352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8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alerts fire automatically from engine-hour thresholds</a:t>
            </a:r>
            <a:endParaRPr lang="en-US" sz="1250" dirty="0"/>
          </a:p>
        </p:txBody>
      </p:sp>
      <p:sp>
        <p:nvSpPr>
          <p:cNvPr id="28" name="Text 20"/>
          <p:cNvSpPr/>
          <p:nvPr/>
        </p:nvSpPr>
        <p:spPr>
          <a:xfrm>
            <a:off x="594360" y="61722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A1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</a:t>
            </a:r>
            <a:pPr indent="0" marL="0">
              <a:buNone/>
            </a:pPr>
            <a:r>
              <a:rPr lang="en-US" sz="1450" dirty="0">
                <a:solidFill>
                  <a:srgbClr val="D5D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disputes below 2% of rentals, and 100% of fleet geofenced and alarmed.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2A1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03 — FINANCIAL OPERATIONS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Bank-grade control over every cedi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874520"/>
            <a:ext cx="2615184" cy="2880360"/>
          </a:xfrm>
          <a:prstGeom prst="roundRect">
            <a:avLst>
              <a:gd name="adj" fmla="val 3147"/>
            </a:avLst>
          </a:prstGeom>
          <a:solidFill>
            <a:srgbClr val="F2F4F7"/>
          </a:solidFill>
          <a:ln/>
        </p:spPr>
      </p:sp>
      <p:sp>
        <p:nvSpPr>
          <p:cNvPr id="5" name="Text 3"/>
          <p:cNvSpPr/>
          <p:nvPr/>
        </p:nvSpPr>
        <p:spPr>
          <a:xfrm>
            <a:off x="813816" y="2103120"/>
            <a:ext cx="566928" cy="566928"/>
          </a:xfrm>
          <a:prstGeom prst="ellipse">
            <a:avLst/>
          </a:prstGeom>
          <a:solidFill>
            <a:srgbClr val="F2A10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13816" y="285292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13816" y="3273552"/>
            <a:ext cx="22128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MoMo, card &amp; bank collections via Paystack — tokenized, PCI-scope free, deposits &amp; part-payments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154680" y="30175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A1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447288" y="1874520"/>
            <a:ext cx="2615184" cy="2880360"/>
          </a:xfrm>
          <a:prstGeom prst="roundRect">
            <a:avLst>
              <a:gd name="adj" fmla="val 3147"/>
            </a:avLst>
          </a:prstGeom>
          <a:solidFill>
            <a:srgbClr val="F2F4F7"/>
          </a:solidFill>
          <a:ln/>
        </p:spPr>
      </p:sp>
      <p:sp>
        <p:nvSpPr>
          <p:cNvPr id="10" name="Text 8"/>
          <p:cNvSpPr/>
          <p:nvPr/>
        </p:nvSpPr>
        <p:spPr>
          <a:xfrm>
            <a:off x="3666744" y="2103120"/>
            <a:ext cx="566928" cy="566928"/>
          </a:xfrm>
          <a:prstGeom prst="ellipse">
            <a:avLst/>
          </a:prstGeom>
          <a:solidFill>
            <a:srgbClr val="F2A10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666744" y="285292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666744" y="3273552"/>
            <a:ext cx="22128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invoices from bookings and verified engine hours — GRA-compliant VAT &amp; levies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007608" y="30175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A1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300216" y="1874520"/>
            <a:ext cx="2615184" cy="2880360"/>
          </a:xfrm>
          <a:prstGeom prst="roundRect">
            <a:avLst>
              <a:gd name="adj" fmla="val 3147"/>
            </a:avLst>
          </a:prstGeom>
          <a:solidFill>
            <a:srgbClr val="1E252F"/>
          </a:solidFill>
          <a:ln/>
        </p:spPr>
      </p:sp>
      <p:sp>
        <p:nvSpPr>
          <p:cNvPr id="15" name="Text 13"/>
          <p:cNvSpPr/>
          <p:nvPr/>
        </p:nvSpPr>
        <p:spPr>
          <a:xfrm>
            <a:off x="6519672" y="2103120"/>
            <a:ext cx="566928" cy="566928"/>
          </a:xfrm>
          <a:prstGeom prst="ellipse">
            <a:avLst/>
          </a:prstGeom>
          <a:solidFill>
            <a:srgbClr val="F2A10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519672" y="285292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519672" y="3273552"/>
            <a:ext cx="22128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Payouts and withdrawals under maker–checker dual control with configurable limits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860536" y="30175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A1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9153144" y="1874520"/>
            <a:ext cx="2615184" cy="2880360"/>
          </a:xfrm>
          <a:prstGeom prst="roundRect">
            <a:avLst>
              <a:gd name="adj" fmla="val 3147"/>
            </a:avLst>
          </a:prstGeom>
          <a:solidFill>
            <a:srgbClr val="F2F4F7"/>
          </a:solidFill>
          <a:ln/>
        </p:spPr>
      </p:sp>
      <p:sp>
        <p:nvSpPr>
          <p:cNvPr id="20" name="Text 18"/>
          <p:cNvSpPr/>
          <p:nvPr/>
        </p:nvSpPr>
        <p:spPr>
          <a:xfrm>
            <a:off x="9372600" y="2103120"/>
            <a:ext cx="566928" cy="566928"/>
          </a:xfrm>
          <a:prstGeom prst="ellipse">
            <a:avLst/>
          </a:prstGeom>
          <a:solidFill>
            <a:srgbClr val="F2A10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372600" y="285292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Reconcile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9372600" y="3273552"/>
            <a:ext cx="22128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settlements auto-matched to invoices; exceptions queued; same-day close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94360" y="5120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Double-entry ledger · immutable audit trail · exports to QuickBooks, Sage &amp; Xero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94360" y="56235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Reconciliation time: </a:t>
            </a:r>
            <a:pPr indent="0" marL="0">
              <a:buNone/>
            </a:pPr>
            <a:r>
              <a:rPr lang="en-US" sz="1600" dirty="0">
                <a:solidFill>
                  <a:srgbClr val="23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of manual work → same-day, automated.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2A1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ARCHITECTURE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Cloud-native, API-first, built to scale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8229600" cy="713232"/>
          </a:xfrm>
          <a:prstGeom prst="roundRect">
            <a:avLst>
              <a:gd name="adj" fmla="val 7692"/>
            </a:avLst>
          </a:prstGeom>
          <a:solidFill>
            <a:srgbClr val="1E252F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" y="1837944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A1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2926080" y="1837944"/>
            <a:ext cx="5760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7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portal (Next.js PWA) · Operations console · iOS &amp; Android apps · Field app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94360" y="2624328"/>
            <a:ext cx="8229600" cy="713232"/>
          </a:xfrm>
          <a:prstGeom prst="roundRect">
            <a:avLst>
              <a:gd name="adj" fmla="val 7692"/>
            </a:avLst>
          </a:prstGeom>
          <a:solidFill>
            <a:srgbClr val="2A3340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2679192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A1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&amp; Edge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2926080" y="2679192"/>
            <a:ext cx="5760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7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· WAF &amp; DDoS protection · OAuth 2.0 / OIDC · CDN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94360" y="3465576"/>
            <a:ext cx="8229600" cy="713232"/>
          </a:xfrm>
          <a:prstGeom prst="roundRect">
            <a:avLst>
              <a:gd name="adj" fmla="val 7692"/>
            </a:avLst>
          </a:prstGeom>
          <a:solidFill>
            <a:srgbClr val="3A4552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352044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A1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Services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2926080" y="3520440"/>
            <a:ext cx="5760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7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Rental &amp; Booking · Fleet Telematics · Billing &amp; Payments · Customer &amp; KYC · Maintenance · Notifications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94360" y="4306824"/>
            <a:ext cx="8229600" cy="713232"/>
          </a:xfrm>
          <a:prstGeom prst="roundRect">
            <a:avLst>
              <a:gd name="adj" fmla="val 7692"/>
            </a:avLst>
          </a:prstGeom>
          <a:solidFill>
            <a:srgbClr val="46525F"/>
          </a:solidFill>
          <a:ln/>
        </p:spPr>
      </p:sp>
      <p:sp>
        <p:nvSpPr>
          <p:cNvPr id="14" name="Text 12"/>
          <p:cNvSpPr/>
          <p:nvPr/>
        </p:nvSpPr>
        <p:spPr>
          <a:xfrm>
            <a:off x="841248" y="4361688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A1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Events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2926080" y="4361688"/>
            <a:ext cx="5760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7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PostGIS · Time-series telemetry store · Redis · Object storage · Event streaming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94360" y="5148072"/>
            <a:ext cx="8229600" cy="713232"/>
          </a:xfrm>
          <a:prstGeom prst="roundRect">
            <a:avLst>
              <a:gd name="adj" fmla="val 7692"/>
            </a:avLst>
          </a:prstGeom>
          <a:solidFill>
            <a:srgbClr val="525E6C"/>
          </a:solidFill>
          <a:ln/>
        </p:spPr>
      </p:sp>
      <p:sp>
        <p:nvSpPr>
          <p:cNvPr id="17" name="Text 15"/>
          <p:cNvSpPr/>
          <p:nvPr/>
        </p:nvSpPr>
        <p:spPr>
          <a:xfrm>
            <a:off x="841248" y="5202936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A1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2926080" y="5202936"/>
            <a:ext cx="5760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7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Paystack / MTN MoMo · Samsara / Geotab / Teltonika · SMS &amp; email · Accounting export · Maps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098280" y="1783080"/>
            <a:ext cx="2487168" cy="91440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/>
        </p:spPr>
      </p:sp>
      <p:sp>
        <p:nvSpPr>
          <p:cNvPr id="20" name="Text 18"/>
          <p:cNvSpPr/>
          <p:nvPr/>
        </p:nvSpPr>
        <p:spPr>
          <a:xfrm>
            <a:off x="9308592" y="1865376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2A1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99.9%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9308592" y="224028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SLA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9098280" y="2825496"/>
            <a:ext cx="2487168" cy="91440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/>
        </p:spPr>
      </p:sp>
      <p:sp>
        <p:nvSpPr>
          <p:cNvPr id="23" name="Text 21"/>
          <p:cNvSpPr/>
          <p:nvPr/>
        </p:nvSpPr>
        <p:spPr>
          <a:xfrm>
            <a:off x="9308592" y="290779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2A1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≤ 15 min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9308592" y="3282696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point (RPO)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098280" y="3867912"/>
            <a:ext cx="2487168" cy="91440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/>
        </p:spPr>
      </p:sp>
      <p:sp>
        <p:nvSpPr>
          <p:cNvPr id="26" name="Text 24"/>
          <p:cNvSpPr/>
          <p:nvPr/>
        </p:nvSpPr>
        <p:spPr>
          <a:xfrm>
            <a:off x="9308592" y="395020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2A1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≤ 4 hrs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9308592" y="4325112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time (RTO)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9098280" y="4910328"/>
            <a:ext cx="2487168" cy="91440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/>
        </p:spPr>
      </p:sp>
      <p:sp>
        <p:nvSpPr>
          <p:cNvPr id="29" name="Text 27"/>
          <p:cNvSpPr/>
          <p:nvPr/>
        </p:nvSpPr>
        <p:spPr>
          <a:xfrm>
            <a:off x="9308592" y="499262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2A1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500+</a:t>
            </a:r>
            <a:endParaRPr lang="en-US" sz="1900" dirty="0"/>
          </a:p>
        </p:txBody>
      </p:sp>
      <p:sp>
        <p:nvSpPr>
          <p:cNvPr id="30" name="Text 28"/>
          <p:cNvSpPr/>
          <p:nvPr/>
        </p:nvSpPr>
        <p:spPr>
          <a:xfrm>
            <a:off x="9308592" y="5367528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assets, 100k+ bookings/mo capacity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5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2A1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COMPLIANCE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Engineered for trust from day one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828800"/>
            <a:ext cx="530352" cy="530352"/>
          </a:xfrm>
          <a:prstGeom prst="ellipse">
            <a:avLst/>
          </a:prstGeom>
          <a:solidFill>
            <a:srgbClr val="2A334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2252" y="1966692"/>
            <a:ext cx="254569" cy="25456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810512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everywhere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325880" y="2130552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8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1.2+ in transit, AES-256 at rest for data, backups and documents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94360" y="2907792"/>
            <a:ext cx="530352" cy="530352"/>
          </a:xfrm>
          <a:prstGeom prst="ellipse">
            <a:avLst/>
          </a:prstGeom>
          <a:solidFill>
            <a:srgbClr val="2A334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252" y="3045684"/>
            <a:ext cx="254569" cy="25456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25880" y="2889504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identity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325880" y="3209544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8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 with OAuth 2.0/OIDC, mandatory MFA for admin &amp; finance roles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94360" y="3986784"/>
            <a:ext cx="530352" cy="530352"/>
          </a:xfrm>
          <a:prstGeom prst="ellipse">
            <a:avLst/>
          </a:prstGeom>
          <a:solidFill>
            <a:srgbClr val="2A3340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252" y="4124676"/>
            <a:ext cx="254569" cy="25456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25880" y="3968496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Hardened perimeter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325880" y="4288536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8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WAF, DDoS protection, CI vulnerability scanning, annual penetration tests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594360" y="5065776"/>
            <a:ext cx="530352" cy="530352"/>
          </a:xfrm>
          <a:prstGeom prst="ellipse">
            <a:avLst/>
          </a:prstGeom>
          <a:solidFill>
            <a:srgbClr val="2A3340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252" y="5203668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25880" y="504748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auditability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1325880" y="5367528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8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logs of every sensitive action — who, what, when, from where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6720840" y="1828800"/>
            <a:ext cx="4846320" cy="4251960"/>
          </a:xfrm>
          <a:prstGeom prst="roundRect">
            <a:avLst>
              <a:gd name="adj" fmla="val 2151"/>
            </a:avLst>
          </a:prstGeom>
          <a:solidFill>
            <a:srgbClr val="2A3340"/>
          </a:solidFill>
          <a:ln/>
        </p:spPr>
      </p:sp>
      <p:sp>
        <p:nvSpPr>
          <p:cNvPr id="21" name="Text 15"/>
          <p:cNvSpPr/>
          <p:nvPr/>
        </p:nvSpPr>
        <p:spPr>
          <a:xfrm>
            <a:off x="7086600" y="212140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F2A1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ALIGNMENT</a:t>
            </a:r>
            <a:endParaRPr lang="en-US" sz="1200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6600" y="2633472"/>
            <a:ext cx="237744" cy="23774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452360" y="2569464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Ghana Data Protection Act, 2012 (Act 843)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7452360" y="2880360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capture, subject rights workflows, DPC registration</a:t>
            </a:r>
            <a:endParaRPr lang="en-US" sz="1100" dirty="0"/>
          </a:p>
        </p:txBody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6600" y="3502152"/>
            <a:ext cx="237744" cy="237744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452360" y="3438144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 DSS</a:t>
            </a:r>
            <a:endParaRPr lang="en-US" sz="1300" dirty="0"/>
          </a:p>
        </p:txBody>
      </p:sp>
      <p:sp>
        <p:nvSpPr>
          <p:cNvPr id="27" name="Text 19"/>
          <p:cNvSpPr/>
          <p:nvPr/>
        </p:nvSpPr>
        <p:spPr>
          <a:xfrm>
            <a:off x="7452360" y="3749040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 by design — tokenized payments via certified gateway</a:t>
            </a:r>
            <a:endParaRPr lang="en-US" sz="1100" dirty="0"/>
          </a:p>
        </p:txBody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86600" y="4370832"/>
            <a:ext cx="237744" cy="237744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7452360" y="4306824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Ghana Revenue Authority</a:t>
            </a:r>
            <a:endParaRPr lang="en-US" sz="1300" dirty="0"/>
          </a:p>
        </p:txBody>
      </p:sp>
      <p:sp>
        <p:nvSpPr>
          <p:cNvPr id="30" name="Text 21"/>
          <p:cNvSpPr/>
          <p:nvPr/>
        </p:nvSpPr>
        <p:spPr>
          <a:xfrm>
            <a:off x="7452360" y="4617720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VAT/NHIL/GETFund computation, e-VAT-ready invoices</a:t>
            </a:r>
            <a:endParaRPr lang="en-US" sz="1100" dirty="0"/>
          </a:p>
        </p:txBody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86600" y="5239512"/>
            <a:ext cx="237744" cy="237744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7452360" y="5175504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ISO/IEC 27001 practices</a:t>
            </a:r>
            <a:endParaRPr lang="en-US" sz="1300" dirty="0"/>
          </a:p>
        </p:txBody>
      </p:sp>
      <p:sp>
        <p:nvSpPr>
          <p:cNvPr id="33" name="Text 23"/>
          <p:cNvSpPr/>
          <p:nvPr/>
        </p:nvSpPr>
        <p:spPr>
          <a:xfrm>
            <a:off x="7452360" y="5486400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framework guiding security operations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2A1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PLAN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in 4 months. Enterprise-grade in 9.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68680" y="2395728"/>
            <a:ext cx="10424160" cy="41148"/>
          </a:xfrm>
          <a:prstGeom prst="rect">
            <a:avLst/>
          </a:prstGeom>
          <a:solidFill>
            <a:srgbClr val="D3D9DF"/>
          </a:solidFill>
          <a:ln/>
        </p:spPr>
      </p:sp>
      <p:sp>
        <p:nvSpPr>
          <p:cNvPr id="5" name="Shape 3"/>
          <p:cNvSpPr/>
          <p:nvPr/>
        </p:nvSpPr>
        <p:spPr>
          <a:xfrm>
            <a:off x="1490472" y="2286000"/>
            <a:ext cx="256032" cy="256032"/>
          </a:xfrm>
          <a:prstGeom prst="ellipse">
            <a:avLst/>
          </a:prstGeom>
          <a:solidFill>
            <a:srgbClr val="F2A10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810512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3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0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94360" y="2788920"/>
            <a:ext cx="2057400" cy="2651760"/>
          </a:xfrm>
          <a:prstGeom prst="roundRect">
            <a:avLst>
              <a:gd name="adj" fmla="val 3556"/>
            </a:avLst>
          </a:prstGeom>
          <a:solidFill>
            <a:srgbClr val="F2F4F7"/>
          </a:solidFill>
          <a:ln/>
        </p:spPr>
      </p:sp>
      <p:sp>
        <p:nvSpPr>
          <p:cNvPr id="8" name="Text 6"/>
          <p:cNvSpPr/>
          <p:nvPr/>
        </p:nvSpPr>
        <p:spPr>
          <a:xfrm>
            <a:off x="758952" y="2944368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A1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1–4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58952" y="3255264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23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&amp; architecture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58952" y="3977640"/>
            <a:ext cx="1783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mapping, fleet audit, hardware selection, signed-off blueprint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739896" y="2286000"/>
            <a:ext cx="256032" cy="256032"/>
          </a:xfrm>
          <a:prstGeom prst="ellipse">
            <a:avLst/>
          </a:prstGeom>
          <a:solidFill>
            <a:srgbClr val="F2A10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43784" y="1810512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3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1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843784" y="2788920"/>
            <a:ext cx="2057400" cy="2651760"/>
          </a:xfrm>
          <a:prstGeom prst="roundRect">
            <a:avLst>
              <a:gd name="adj" fmla="val 3556"/>
            </a:avLst>
          </a:prstGeom>
          <a:solidFill>
            <a:srgbClr val="F2F4F7"/>
          </a:solidFill>
          <a:ln/>
        </p:spPr>
      </p:sp>
      <p:sp>
        <p:nvSpPr>
          <p:cNvPr id="14" name="Text 12"/>
          <p:cNvSpPr/>
          <p:nvPr/>
        </p:nvSpPr>
        <p:spPr>
          <a:xfrm>
            <a:off x="3008376" y="2944368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A1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5–16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008376" y="3255264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23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rental platform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008376" y="3977640"/>
            <a:ext cx="1783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Catalog, booking, payments, admin console — public launch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989320" y="2286000"/>
            <a:ext cx="256032" cy="256032"/>
          </a:xfrm>
          <a:prstGeom prst="ellipse">
            <a:avLst/>
          </a:prstGeom>
          <a:solidFill>
            <a:srgbClr val="F2A10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93208" y="1810512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3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2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093208" y="2788920"/>
            <a:ext cx="2057400" cy="2651760"/>
          </a:xfrm>
          <a:prstGeom prst="roundRect">
            <a:avLst>
              <a:gd name="adj" fmla="val 3556"/>
            </a:avLst>
          </a:prstGeom>
          <a:solidFill>
            <a:srgbClr val="F2F4F7"/>
          </a:solidFill>
          <a:ln/>
        </p:spPr>
      </p:sp>
      <p:sp>
        <p:nvSpPr>
          <p:cNvPr id="20" name="Text 18"/>
          <p:cNvSpPr/>
          <p:nvPr/>
        </p:nvSpPr>
        <p:spPr>
          <a:xfrm>
            <a:off x="5257800" y="2944368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A1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17–24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257800" y="3255264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23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telematics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257800" y="3977640"/>
            <a:ext cx="1783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rollout, live map, geofencing, engine hours, alerts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238744" y="2286000"/>
            <a:ext cx="256032" cy="256032"/>
          </a:xfrm>
          <a:prstGeom prst="ellipse">
            <a:avLst/>
          </a:prstGeom>
          <a:solidFill>
            <a:srgbClr val="F2A10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42632" y="1810512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3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3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342632" y="2788920"/>
            <a:ext cx="2057400" cy="2651760"/>
          </a:xfrm>
          <a:prstGeom prst="roundRect">
            <a:avLst>
              <a:gd name="adj" fmla="val 3556"/>
            </a:avLst>
          </a:prstGeom>
          <a:solidFill>
            <a:srgbClr val="F2F4F7"/>
          </a:solidFill>
          <a:ln/>
        </p:spPr>
      </p:sp>
      <p:sp>
        <p:nvSpPr>
          <p:cNvPr id="26" name="Text 24"/>
          <p:cNvSpPr/>
          <p:nvPr/>
        </p:nvSpPr>
        <p:spPr>
          <a:xfrm>
            <a:off x="7507224" y="2944368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A1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25–32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507224" y="3255264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23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hardening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7507224" y="3977640"/>
            <a:ext cx="1783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controls, analytics, DR drills, penetration test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10488168" y="2286000"/>
            <a:ext cx="256032" cy="256032"/>
          </a:xfrm>
          <a:prstGeom prst="ellipse">
            <a:avLst/>
          </a:prstGeom>
          <a:solidFill>
            <a:srgbClr val="F2A10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592056" y="1810512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3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4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9592056" y="2788920"/>
            <a:ext cx="2057400" cy="2651760"/>
          </a:xfrm>
          <a:prstGeom prst="roundRect">
            <a:avLst>
              <a:gd name="adj" fmla="val 3556"/>
            </a:avLst>
          </a:prstGeom>
          <a:solidFill>
            <a:srgbClr val="1E252F"/>
          </a:solidFill>
          <a:ln/>
        </p:spPr>
      </p:sp>
      <p:sp>
        <p:nvSpPr>
          <p:cNvPr id="32" name="Text 30"/>
          <p:cNvSpPr/>
          <p:nvPr/>
        </p:nvSpPr>
        <p:spPr>
          <a:xfrm>
            <a:off x="9756648" y="2944368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A1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33–36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756648" y="3255264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 &amp; hypercare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9756648" y="3977640"/>
            <a:ext cx="1783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Training, branch onboarding, support handover, KPI baseline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94360" y="5897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two-week sprints · monthly steering committee · quality gates at every phase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2A1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OUTCOMES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success looks like at 12 months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874520"/>
            <a:ext cx="3529584" cy="1874520"/>
          </a:xfrm>
          <a:prstGeom prst="roundRect">
            <a:avLst>
              <a:gd name="adj" fmla="val 4390"/>
            </a:avLst>
          </a:prstGeom>
          <a:solidFill>
            <a:srgbClr val="1E252F"/>
          </a:solidFill>
          <a:ln/>
        </p:spPr>
      </p:sp>
      <p:sp>
        <p:nvSpPr>
          <p:cNvPr id="5" name="Text 3"/>
          <p:cNvSpPr/>
          <p:nvPr/>
        </p:nvSpPr>
        <p:spPr>
          <a:xfrm>
            <a:off x="850392" y="2039112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2A1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≥ 70%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50392" y="28346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tracked fleet utilization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50392" y="32004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untracked today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79976" y="1874520"/>
            <a:ext cx="3529584" cy="1874520"/>
          </a:xfrm>
          <a:prstGeom prst="roundRect">
            <a:avLst>
              <a:gd name="adj" fmla="val 4390"/>
            </a:avLst>
          </a:prstGeom>
          <a:solidFill>
            <a:srgbClr val="1E252F"/>
          </a:solidFill>
          <a:ln/>
        </p:spPr>
      </p:sp>
      <p:sp>
        <p:nvSpPr>
          <p:cNvPr id="9" name="Text 7"/>
          <p:cNvSpPr/>
          <p:nvPr/>
        </p:nvSpPr>
        <p:spPr>
          <a:xfrm>
            <a:off x="4636008" y="2039112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2A1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≥ 60%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4636008" y="28346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bookings made online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636008" y="32004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0% today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65592" y="1874520"/>
            <a:ext cx="3529584" cy="1874520"/>
          </a:xfrm>
          <a:prstGeom prst="roundRect">
            <a:avLst>
              <a:gd name="adj" fmla="val 4390"/>
            </a:avLst>
          </a:prstGeom>
          <a:solidFill>
            <a:srgbClr val="1E252F"/>
          </a:solidFill>
          <a:ln/>
        </p:spPr>
      </p:sp>
      <p:sp>
        <p:nvSpPr>
          <p:cNvPr id="13" name="Text 11"/>
          <p:cNvSpPr/>
          <p:nvPr/>
        </p:nvSpPr>
        <p:spPr>
          <a:xfrm>
            <a:off x="8421624" y="2039112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2A1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2 hrs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8421624" y="28346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quote-to-booking time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21624" y="32004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1–3 days today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94360" y="4023360"/>
            <a:ext cx="3529584" cy="1874520"/>
          </a:xfrm>
          <a:prstGeom prst="roundRect">
            <a:avLst>
              <a:gd name="adj" fmla="val 4390"/>
            </a:avLst>
          </a:prstGeom>
          <a:solidFill>
            <a:srgbClr val="F2F4F7"/>
          </a:solidFill>
          <a:ln/>
        </p:spPr>
      </p:sp>
      <p:sp>
        <p:nvSpPr>
          <p:cNvPr id="17" name="Text 15"/>
          <p:cNvSpPr/>
          <p:nvPr/>
        </p:nvSpPr>
        <p:spPr>
          <a:xfrm>
            <a:off x="850392" y="4187952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2A1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2%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850392" y="4983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disputes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50392" y="53492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hours verified by telemetry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379976" y="4023360"/>
            <a:ext cx="3529584" cy="1874520"/>
          </a:xfrm>
          <a:prstGeom prst="roundRect">
            <a:avLst>
              <a:gd name="adj" fmla="val 4390"/>
            </a:avLst>
          </a:prstGeom>
          <a:solidFill>
            <a:srgbClr val="F2F4F7"/>
          </a:solidFill>
          <a:ln/>
        </p:spPr>
      </p:sp>
      <p:sp>
        <p:nvSpPr>
          <p:cNvPr id="21" name="Text 19"/>
          <p:cNvSpPr/>
          <p:nvPr/>
        </p:nvSpPr>
        <p:spPr>
          <a:xfrm>
            <a:off x="4636008" y="4187952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2A1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–25%</a:t>
            </a:r>
            <a:endParaRPr lang="en-US" sz="3800" dirty="0"/>
          </a:p>
        </p:txBody>
      </p:sp>
      <p:sp>
        <p:nvSpPr>
          <p:cNvPr id="22" name="Text 20"/>
          <p:cNvSpPr/>
          <p:nvPr/>
        </p:nvSpPr>
        <p:spPr>
          <a:xfrm>
            <a:off x="4636008" y="4983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unplanned downtime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636008" y="53492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telemetry-driven maintenance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165592" y="4023360"/>
            <a:ext cx="3529584" cy="1874520"/>
          </a:xfrm>
          <a:prstGeom prst="roundRect">
            <a:avLst>
              <a:gd name="adj" fmla="val 4390"/>
            </a:avLst>
          </a:prstGeom>
          <a:solidFill>
            <a:srgbClr val="F2F4F7"/>
          </a:solidFill>
          <a:ln/>
        </p:spPr>
      </p:sp>
      <p:sp>
        <p:nvSpPr>
          <p:cNvPr id="25" name="Text 23"/>
          <p:cNvSpPr/>
          <p:nvPr/>
        </p:nvSpPr>
        <p:spPr>
          <a:xfrm>
            <a:off x="8421624" y="4187952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2A1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99.9%</a:t>
            </a:r>
            <a:endParaRPr lang="en-US" sz="3800" dirty="0"/>
          </a:p>
        </p:txBody>
      </p:sp>
      <p:sp>
        <p:nvSpPr>
          <p:cNvPr id="26" name="Text 24"/>
          <p:cNvSpPr/>
          <p:nvPr/>
        </p:nvSpPr>
        <p:spPr>
          <a:xfrm>
            <a:off x="8421624" y="4983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availability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421624" y="53492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SLA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2A1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Structured investment, refined in discovery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810512"/>
            <a:ext cx="7040880" cy="512064"/>
          </a:xfrm>
          <a:prstGeom prst="roundRect">
            <a:avLst>
              <a:gd name="adj" fmla="val 8929"/>
            </a:avLst>
          </a:prstGeom>
          <a:solidFill>
            <a:srgbClr val="F2F4F7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56232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 — Discovery &amp; architecture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800600" y="1856232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989320" y="1856232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2A1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$8k – 15k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" y="2414016"/>
            <a:ext cx="7040880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459736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Core rental platform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00600" y="2459736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989320" y="2459736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2A1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$45k – 70k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4360" y="3017520"/>
            <a:ext cx="7040880" cy="512064"/>
          </a:xfrm>
          <a:prstGeom prst="roundRect">
            <a:avLst>
              <a:gd name="adj" fmla="val 8929"/>
            </a:avLst>
          </a:prstGeom>
          <a:solidFill>
            <a:srgbClr val="F2F4F7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063240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Fleet telematics software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00600" y="3063240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989320" y="3063240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2A1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$25k – 40k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94360" y="3621024"/>
            <a:ext cx="7040880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666744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Hardening &amp; analytics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00600" y="3666744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989320" y="3666744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2A1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$20k – 35k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94360" y="4224528"/>
            <a:ext cx="7040880" cy="512064"/>
          </a:xfrm>
          <a:prstGeom prst="roundRect">
            <a:avLst>
              <a:gd name="adj" fmla="val 8929"/>
            </a:avLst>
          </a:prstGeom>
          <a:solidFill>
            <a:srgbClr val="F2F4F7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270248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Telematics hardware &amp; install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00600" y="4270248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asset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989320" y="4270248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2A1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$150 – 400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4360" y="4828032"/>
            <a:ext cx="7040880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4873752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&amp; third-party services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00600" y="4873752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989320" y="4873752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2A1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$800 – 2,500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94360" y="5431536"/>
            <a:ext cx="7040880" cy="512064"/>
          </a:xfrm>
          <a:prstGeom prst="roundRect">
            <a:avLst>
              <a:gd name="adj" fmla="val 8929"/>
            </a:avLst>
          </a:prstGeom>
          <a:solidFill>
            <a:srgbClr val="F2F4F7"/>
          </a:solidFill>
          <a:ln/>
        </p:spPr>
      </p:sp>
      <p:sp>
        <p:nvSpPr>
          <p:cNvPr id="29" name="Text 27"/>
          <p:cNvSpPr/>
          <p:nvPr/>
        </p:nvSpPr>
        <p:spPr>
          <a:xfrm>
            <a:off x="822960" y="5477256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&amp; maintenance (SLA)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800600" y="5477256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989320" y="5477256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2A1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12–18% of build / yr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8001000" y="1810512"/>
            <a:ext cx="3584448" cy="4160520"/>
          </a:xfrm>
          <a:prstGeom prst="roundRect">
            <a:avLst>
              <a:gd name="adj" fmla="val 2551"/>
            </a:avLst>
          </a:prstGeom>
          <a:solidFill>
            <a:srgbClr val="1E252F"/>
          </a:solidFill>
          <a:ln/>
        </p:spPr>
      </p:sp>
      <p:sp>
        <p:nvSpPr>
          <p:cNvPr id="33" name="Text 31"/>
          <p:cNvSpPr/>
          <p:nvPr/>
        </p:nvSpPr>
        <p:spPr>
          <a:xfrm>
            <a:off x="8321040" y="212140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F2A1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THIS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321040" y="2542032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5D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planning ranges. Fixed commercial terms are issued after the 4-week Phase 0 discovery, once fleet size, branches and hardware are confirmed.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8321040" y="416052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8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fees (~1.95% local) are pass-through and can be absorbed or surcharged per pricing policy.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2A1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CONFIDENCE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Governed delivery, managed risk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94360" y="178308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3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govern</a:t>
            </a:r>
            <a:endParaRPr lang="en-US" sz="19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2304288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228600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23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steering committee — executive sponsor, operations, finance, delivery — monthly</a:t>
            </a:r>
            <a:endParaRPr lang="en-US" sz="13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200400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05840" y="3182112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23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Two-week sprints with stakeholder demos at every review</a:t>
            </a:r>
            <a:endParaRPr lang="en-US" sz="13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4096512"/>
            <a:ext cx="274320" cy="2743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05840" y="4078224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23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gates per phase: automated tests, UAT sign-off, go-live checklists</a:t>
            </a:r>
            <a:endParaRPr lang="en-US" sz="13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4992624"/>
            <a:ext cx="274320" cy="27432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005840" y="4974336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23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change management: role-based training and train-the-trainer for branches</a:t>
            </a:r>
            <a:endParaRPr lang="en-US" sz="1300" dirty="0"/>
          </a:p>
        </p:txBody>
      </p:sp>
      <p:sp>
        <p:nvSpPr>
          <p:cNvPr id="13" name="Text 7"/>
          <p:cNvSpPr/>
          <p:nvPr/>
        </p:nvSpPr>
        <p:spPr>
          <a:xfrm>
            <a:off x="6263640" y="1783080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3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risks &amp; mitigations</a:t>
            </a:r>
            <a:endParaRPr lang="en-US" sz="1900" dirty="0"/>
          </a:p>
        </p:txBody>
      </p:sp>
      <p:sp>
        <p:nvSpPr>
          <p:cNvPr id="14" name="Shape 8"/>
          <p:cNvSpPr/>
          <p:nvPr/>
        </p:nvSpPr>
        <p:spPr>
          <a:xfrm>
            <a:off x="6263640" y="2286000"/>
            <a:ext cx="5330952" cy="822960"/>
          </a:xfrm>
          <a:prstGeom prst="roundRect">
            <a:avLst>
              <a:gd name="adj" fmla="val 7778"/>
            </a:avLst>
          </a:prstGeom>
          <a:solidFill>
            <a:srgbClr val="F2F4F7"/>
          </a:solidFill>
          <a:ln/>
        </p:spPr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3952" y="2542032"/>
            <a:ext cx="310896" cy="310896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949440" y="237744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Remote-site connectivity</a:t>
            </a:r>
            <a:endParaRPr lang="en-US" sz="1300" dirty="0"/>
          </a:p>
        </p:txBody>
      </p:sp>
      <p:sp>
        <p:nvSpPr>
          <p:cNvPr id="17" name="Text 10"/>
          <p:cNvSpPr/>
          <p:nvPr/>
        </p:nvSpPr>
        <p:spPr>
          <a:xfrm>
            <a:off x="6949440" y="269748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Store-and-forward devices, multi-network SIMs</a:t>
            </a:r>
            <a:endParaRPr lang="en-US" sz="1150" dirty="0"/>
          </a:p>
        </p:txBody>
      </p:sp>
      <p:sp>
        <p:nvSpPr>
          <p:cNvPr id="18" name="Shape 11"/>
          <p:cNvSpPr/>
          <p:nvPr/>
        </p:nvSpPr>
        <p:spPr>
          <a:xfrm>
            <a:off x="6263640" y="3246120"/>
            <a:ext cx="5330952" cy="822960"/>
          </a:xfrm>
          <a:prstGeom prst="roundRect">
            <a:avLst>
              <a:gd name="adj" fmla="val 7778"/>
            </a:avLst>
          </a:prstGeom>
          <a:solidFill>
            <a:srgbClr val="F2F4F7"/>
          </a:solidFill>
          <a:ln/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3952" y="3502152"/>
            <a:ext cx="310896" cy="310896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6949440" y="333756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money API downtime</a:t>
            </a:r>
            <a:endParaRPr lang="en-US" sz="1300" dirty="0"/>
          </a:p>
        </p:txBody>
      </p:sp>
      <p:sp>
        <p:nvSpPr>
          <p:cNvPr id="21" name="Text 13"/>
          <p:cNvSpPr/>
          <p:nvPr/>
        </p:nvSpPr>
        <p:spPr>
          <a:xfrm>
            <a:off x="6949440" y="365760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payment rails + offline recording</a:t>
            </a:r>
            <a:endParaRPr lang="en-US" sz="1150" dirty="0"/>
          </a:p>
        </p:txBody>
      </p:sp>
      <p:sp>
        <p:nvSpPr>
          <p:cNvPr id="22" name="Shape 14"/>
          <p:cNvSpPr/>
          <p:nvPr/>
        </p:nvSpPr>
        <p:spPr>
          <a:xfrm>
            <a:off x="6263640" y="4206240"/>
            <a:ext cx="5330952" cy="822960"/>
          </a:xfrm>
          <a:prstGeom prst="roundRect">
            <a:avLst>
              <a:gd name="adj" fmla="val 7778"/>
            </a:avLst>
          </a:prstGeom>
          <a:solidFill>
            <a:srgbClr val="F2F4F7"/>
          </a:solidFill>
          <a:ln/>
        </p:spPr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3952" y="4462272"/>
            <a:ext cx="310896" cy="310896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6949440" y="429768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adoption</a:t>
            </a:r>
            <a:endParaRPr lang="en-US" sz="1300" dirty="0"/>
          </a:p>
        </p:txBody>
      </p:sp>
      <p:sp>
        <p:nvSpPr>
          <p:cNvPr id="25" name="Text 16"/>
          <p:cNvSpPr/>
          <p:nvPr/>
        </p:nvSpPr>
        <p:spPr>
          <a:xfrm>
            <a:off x="6949440" y="461772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involvement, phased rollout, exec sponsorship</a:t>
            </a:r>
            <a:endParaRPr lang="en-US" sz="1150" dirty="0"/>
          </a:p>
        </p:txBody>
      </p:sp>
      <p:sp>
        <p:nvSpPr>
          <p:cNvPr id="26" name="Shape 17"/>
          <p:cNvSpPr/>
          <p:nvPr/>
        </p:nvSpPr>
        <p:spPr>
          <a:xfrm>
            <a:off x="6263640" y="5166360"/>
            <a:ext cx="5330952" cy="822960"/>
          </a:xfrm>
          <a:prstGeom prst="roundRect">
            <a:avLst>
              <a:gd name="adj" fmla="val 7778"/>
            </a:avLst>
          </a:prstGeom>
          <a:solidFill>
            <a:srgbClr val="F2F4F7"/>
          </a:solidFill>
          <a:ln/>
        </p:spPr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73952" y="5422392"/>
            <a:ext cx="310896" cy="310896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6949440" y="525780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creep</a:t>
            </a:r>
            <a:endParaRPr lang="en-US" sz="1300" dirty="0"/>
          </a:p>
        </p:txBody>
      </p:sp>
      <p:sp>
        <p:nvSpPr>
          <p:cNvPr id="29" name="Text 19"/>
          <p:cNvSpPr/>
          <p:nvPr/>
        </p:nvSpPr>
        <p:spPr>
          <a:xfrm>
            <a:off x="6949440" y="557784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phase gates and change-control board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5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560320" y="3566160"/>
            <a:ext cx="6583680" cy="6583680"/>
          </a:xfrm>
          <a:prstGeom prst="ellipse">
            <a:avLst/>
          </a:prstGeom>
          <a:solidFill>
            <a:srgbClr val="2A3340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2A1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58368" y="132588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proposal to platform in three moves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685800" y="2606040"/>
            <a:ext cx="3474720" cy="2286000"/>
          </a:xfrm>
          <a:prstGeom prst="roundRect">
            <a:avLst>
              <a:gd name="adj" fmla="val 4000"/>
            </a:avLst>
          </a:prstGeom>
          <a:solidFill>
            <a:srgbClr val="2A3340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852928"/>
            <a:ext cx="603504" cy="603504"/>
          </a:xfrm>
          <a:prstGeom prst="ellipse">
            <a:avLst/>
          </a:prstGeom>
          <a:solidFill>
            <a:srgbClr val="F2A10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60120" y="36118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60120" y="4041648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sign-off on this proposal and its phased scope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71416" y="2606040"/>
            <a:ext cx="3474720" cy="2286000"/>
          </a:xfrm>
          <a:prstGeom prst="roundRect">
            <a:avLst>
              <a:gd name="adj" fmla="val 4000"/>
            </a:avLst>
          </a:prstGeom>
          <a:solidFill>
            <a:srgbClr val="2A3340"/>
          </a:solidFill>
          <a:ln/>
        </p:spPr>
      </p:sp>
      <p:sp>
        <p:nvSpPr>
          <p:cNvPr id="10" name="Text 8"/>
          <p:cNvSpPr/>
          <p:nvPr/>
        </p:nvSpPr>
        <p:spPr>
          <a:xfrm>
            <a:off x="4745736" y="2852928"/>
            <a:ext cx="603504" cy="603504"/>
          </a:xfrm>
          <a:prstGeom prst="ellipse">
            <a:avLst/>
          </a:prstGeom>
          <a:solidFill>
            <a:srgbClr val="F2A10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745736" y="36118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745736" y="4041648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4-week Phase 0: requirements, fleet audit, hardware selection, fixed pricing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57032" y="2606040"/>
            <a:ext cx="3474720" cy="2286000"/>
          </a:xfrm>
          <a:prstGeom prst="roundRect">
            <a:avLst>
              <a:gd name="adj" fmla="val 4000"/>
            </a:avLst>
          </a:prstGeom>
          <a:solidFill>
            <a:srgbClr val="2A3340"/>
          </a:solidFill>
          <a:ln/>
        </p:spPr>
      </p:sp>
      <p:sp>
        <p:nvSpPr>
          <p:cNvPr id="14" name="Text 12"/>
          <p:cNvSpPr/>
          <p:nvPr/>
        </p:nvSpPr>
        <p:spPr>
          <a:xfrm>
            <a:off x="8531352" y="2852928"/>
            <a:ext cx="603504" cy="603504"/>
          </a:xfrm>
          <a:prstGeom prst="ellipse">
            <a:avLst/>
          </a:prstGeom>
          <a:solidFill>
            <a:srgbClr val="F2A10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531352" y="36118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Mobilize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8531352" y="4041648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team starts Phase 1 build immediately after blueprint sign-off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85800" y="54864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2A1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machine visible. Every cedi accounted for. Every booking captured.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85800" y="617220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prepared for executive review · July 2026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2026-07-31T02:14:51Z</dcterms:created>
  <dcterms:modified xsi:type="dcterms:W3CDTF">2026-07-31T02:14:51Z</dcterms:modified>
</cp:coreProperties>
</file>